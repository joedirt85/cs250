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a6e80a61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a6e80a61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6e80a616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6e80a616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6e80a616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6e80a616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6e80a616b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6e80a616b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6e80a616b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6e80a616b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6e80a616b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6e80a616b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6e80a616b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6e80a616b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6e80a616b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6e80a616b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6e80a616b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6e80a616b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6e80a616b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6e80a616b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6e80a616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6e80a616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6e80a616b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a6e80a616b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scrumguides.org/scrum-guide.html#the-sprint" TargetMode="External"/><Relationship Id="rId4" Type="http://schemas.openxmlformats.org/officeDocument/2006/relationships/hyperlink" Target="https://www.scrum.org/resources/what-is-a-scrum-master" TargetMode="External"/><Relationship Id="rId5" Type="http://schemas.openxmlformats.org/officeDocument/2006/relationships/hyperlink" Target="https://www.scrum.org/resources/what-is-a-scrum-developer" TargetMode="External"/><Relationship Id="rId6" Type="http://schemas.openxmlformats.org/officeDocument/2006/relationships/hyperlink" Target="https://www.geeksforgeeks.org/software-engineering/agile-sdlc-software-development-life-cycl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aguayo.co/en/blog-aguayo-user-experience/agile-methodology-in-ux/" TargetMode="External"/><Relationship Id="rId4" Type="http://schemas.openxmlformats.org/officeDocument/2006/relationships/hyperlink" Target="https://www.bmc.com/blogs/agile-vs-waterfal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0"/>
            <a:ext cx="8520600" cy="2080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What it means to be</a:t>
            </a:r>
            <a:endParaRPr/>
          </a:p>
          <a:p>
            <a:pPr indent="0" lvl="0" marL="0" rtl="0" algn="ctr">
              <a:spcBef>
                <a:spcPts val="0"/>
              </a:spcBef>
              <a:spcAft>
                <a:spcPts val="0"/>
              </a:spcAft>
              <a:buNone/>
            </a:pPr>
            <a:r>
              <a:t/>
            </a:r>
            <a:endParaRPr/>
          </a:p>
        </p:txBody>
      </p:sp>
      <p:sp>
        <p:nvSpPr>
          <p:cNvPr id="55" name="Google Shape;55;p13"/>
          <p:cNvSpPr txBox="1"/>
          <p:nvPr>
            <p:ph idx="1" type="subTitle"/>
          </p:nvPr>
        </p:nvSpPr>
        <p:spPr>
          <a:xfrm>
            <a:off x="311700" y="43509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dk1"/>
                </a:solidFill>
              </a:rPr>
              <a:t>Josiah Roske </a:t>
            </a:r>
            <a:endParaRPr>
              <a:solidFill>
                <a:schemeClr val="dk1"/>
              </a:solidFill>
            </a:endParaRPr>
          </a:p>
        </p:txBody>
      </p:sp>
      <p:pic>
        <p:nvPicPr>
          <p:cNvPr id="56" name="Google Shape;56;p13" title="Agile-methodology-user-experience.width-490.png"/>
          <p:cNvPicPr preferRelativeResize="0"/>
          <p:nvPr/>
        </p:nvPicPr>
        <p:blipFill>
          <a:blip r:embed="rId3">
            <a:alphaModFix/>
          </a:blip>
          <a:stretch>
            <a:fillRect/>
          </a:stretch>
        </p:blipFill>
        <p:spPr>
          <a:xfrm>
            <a:off x="2378225" y="1253700"/>
            <a:ext cx="4093751" cy="3004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a:solidFill>
            <a:schemeClr val="lt1"/>
          </a:solidFill>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220">
                <a:solidFill>
                  <a:schemeClr val="accent2"/>
                </a:solidFill>
              </a:rPr>
              <a:t>The Scrum Team</a:t>
            </a:r>
            <a:endParaRPr sz="3220">
              <a:solidFill>
                <a:schemeClr val="accent2"/>
              </a:solidFill>
            </a:endParaRPr>
          </a:p>
        </p:txBody>
      </p:sp>
      <p:sp>
        <p:nvSpPr>
          <p:cNvPr id="62" name="Google Shape;62;p14"/>
          <p:cNvSpPr txBox="1"/>
          <p:nvPr>
            <p:ph idx="1" type="body"/>
          </p:nvPr>
        </p:nvSpPr>
        <p:spPr>
          <a:xfrm>
            <a:off x="311700" y="1774350"/>
            <a:ext cx="8520600" cy="2251200"/>
          </a:xfrm>
          <a:prstGeom prst="rect">
            <a:avLst/>
          </a:prstGeom>
          <a:solidFill>
            <a:schemeClr val="lt1"/>
          </a:solidFill>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dk1"/>
                </a:solidFill>
              </a:rPr>
              <a:t>The scrum team consists of a product owner, scrum master and development team, which can include member such as testers and developers. All of these roles play crucial parts in the execution and delivery of a product.</a:t>
            </a:r>
            <a:endParaRPr>
              <a:solidFill>
                <a:schemeClr val="dk1"/>
              </a:solidFill>
            </a:endParaRPr>
          </a:p>
          <a:p>
            <a:pPr indent="0" lvl="0" marL="0" rtl="0" algn="ctr">
              <a:spcBef>
                <a:spcPts val="1200"/>
              </a:spcBef>
              <a:spcAft>
                <a:spcPts val="1200"/>
              </a:spcAft>
              <a:buNone/>
            </a:pPr>
            <a:r>
              <a:rPr lang="en">
                <a:solidFill>
                  <a:schemeClr val="dk1"/>
                </a:solidFill>
              </a:rPr>
              <a:t>The idea of a scrum team is to limit the size of the team in order to remain nimble enough to take on the any changes, while bolstering team members confidence in their work.</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a:solidFill>
            <a:schemeClr val="lt1"/>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Product owner</a:t>
            </a:r>
            <a:endParaRPr/>
          </a:p>
        </p:txBody>
      </p:sp>
      <p:sp>
        <p:nvSpPr>
          <p:cNvPr id="68" name="Google Shape;68;p15"/>
          <p:cNvSpPr txBox="1"/>
          <p:nvPr>
            <p:ph idx="1" type="body"/>
          </p:nvPr>
        </p:nvSpPr>
        <p:spPr>
          <a:xfrm>
            <a:off x="311700" y="1152475"/>
            <a:ext cx="8520600" cy="948000"/>
          </a:xfrm>
          <a:prstGeom prst="rect">
            <a:avLst/>
          </a:prstGeom>
          <a:solidFill>
            <a:schemeClr val="lt1"/>
          </a:solidFill>
        </p:spPr>
        <p:txBody>
          <a:bodyPr anchorCtr="0" anchor="t" bIns="91425" lIns="91425" spcFirstLastPara="1" rIns="91425" wrap="square" tIns="91425">
            <a:noAutofit/>
          </a:bodyPr>
          <a:lstStyle/>
          <a:p>
            <a:pPr indent="0" lvl="0" marL="0" rtl="0" algn="ctr">
              <a:lnSpc>
                <a:spcPct val="105000"/>
              </a:lnSpc>
              <a:spcBef>
                <a:spcPts val="0"/>
              </a:spcBef>
              <a:spcAft>
                <a:spcPts val="0"/>
              </a:spcAft>
              <a:buSzPts val="852"/>
              <a:buNone/>
            </a:pPr>
            <a:r>
              <a:rPr lang="en" sz="1362">
                <a:solidFill>
                  <a:schemeClr val="dk1"/>
                </a:solidFill>
              </a:rPr>
              <a:t>“The product owner is accountable for maximizing the value of the product resulting from the work of the scrum team. (scrumguides.org)”</a:t>
            </a:r>
            <a:endParaRPr sz="1362">
              <a:solidFill>
                <a:schemeClr val="dk1"/>
              </a:solidFill>
            </a:endParaRPr>
          </a:p>
          <a:p>
            <a:pPr indent="0" lvl="0" marL="457200" rtl="0" algn="l">
              <a:lnSpc>
                <a:spcPct val="105000"/>
              </a:lnSpc>
              <a:spcBef>
                <a:spcPts val="1200"/>
              </a:spcBef>
              <a:spcAft>
                <a:spcPts val="1200"/>
              </a:spcAft>
              <a:buSzPts val="852"/>
              <a:buNone/>
            </a:pPr>
            <a:r>
              <a:t/>
            </a:r>
            <a:endParaRPr sz="1550">
              <a:solidFill>
                <a:schemeClr val="dk1"/>
              </a:solidFill>
            </a:endParaRPr>
          </a:p>
        </p:txBody>
      </p:sp>
      <p:sp>
        <p:nvSpPr>
          <p:cNvPr id="69" name="Google Shape;69;p15"/>
          <p:cNvSpPr txBox="1"/>
          <p:nvPr/>
        </p:nvSpPr>
        <p:spPr>
          <a:xfrm>
            <a:off x="311700" y="2656975"/>
            <a:ext cx="8520600" cy="2256000"/>
          </a:xfrm>
          <a:prstGeom prst="rect">
            <a:avLst/>
          </a:prstGeom>
          <a:solidFill>
            <a:schemeClr val="lt1"/>
          </a:solid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chemeClr val="dk1"/>
              </a:buClr>
              <a:buSzPts val="2000"/>
              <a:buChar char="●"/>
            </a:pPr>
            <a:r>
              <a:rPr lang="en" sz="2000">
                <a:solidFill>
                  <a:schemeClr val="dk1"/>
                </a:solidFill>
              </a:rPr>
              <a:t>Visionary for the client/stakeholders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rPr>
              <a:t>Creates the goals of the product</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rPr>
              <a:t>Develops user stories and item backlog</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a:solidFill>
            <a:schemeClr val="lt1"/>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Scrum Master</a:t>
            </a:r>
            <a:endParaRPr/>
          </a:p>
        </p:txBody>
      </p:sp>
      <p:sp>
        <p:nvSpPr>
          <p:cNvPr id="75" name="Google Shape;75;p16"/>
          <p:cNvSpPr txBox="1"/>
          <p:nvPr>
            <p:ph idx="1" type="body"/>
          </p:nvPr>
        </p:nvSpPr>
        <p:spPr>
          <a:xfrm>
            <a:off x="311700" y="1152475"/>
            <a:ext cx="8520600" cy="1489500"/>
          </a:xfrm>
          <a:prstGeom prst="rect">
            <a:avLst/>
          </a:prstGeom>
          <a:solidFill>
            <a:schemeClr val="lt1"/>
          </a:solidFill>
        </p:spPr>
        <p:txBody>
          <a:bodyPr anchorCtr="0" anchor="t" bIns="91425" lIns="91425" spcFirstLastPara="1" rIns="91425" wrap="square" tIns="91425">
            <a:normAutofit/>
          </a:bodyPr>
          <a:lstStyle/>
          <a:p>
            <a:pPr indent="0" lvl="0" marL="0" rtl="0" algn="ctr">
              <a:spcBef>
                <a:spcPts val="0"/>
              </a:spcBef>
              <a:spcAft>
                <a:spcPts val="0"/>
              </a:spcAft>
              <a:buNone/>
            </a:pPr>
            <a:r>
              <a:rPr lang="en" sz="1600">
                <a:solidFill>
                  <a:schemeClr val="dk1"/>
                </a:solidFill>
              </a:rPr>
              <a:t>The Scrum Master is a servant leader, they help their team by assisting them in whatever way is needed.</a:t>
            </a:r>
            <a:endParaRPr sz="1600">
              <a:solidFill>
                <a:schemeClr val="dk1"/>
              </a:solidFill>
            </a:endParaRPr>
          </a:p>
          <a:p>
            <a:pPr indent="0" lvl="0" marL="0" rtl="0" algn="ctr">
              <a:spcBef>
                <a:spcPts val="1200"/>
              </a:spcBef>
              <a:spcAft>
                <a:spcPts val="1200"/>
              </a:spcAft>
              <a:buNone/>
            </a:pPr>
            <a:r>
              <a:rPr lang="en" sz="1600">
                <a:solidFill>
                  <a:schemeClr val="dk1"/>
                </a:solidFill>
              </a:rPr>
              <a:t>“</a:t>
            </a:r>
            <a:r>
              <a:rPr lang="en" sz="1600">
                <a:solidFill>
                  <a:schemeClr val="dk1"/>
                </a:solidFill>
                <a:highlight>
                  <a:srgbClr val="FFFFFF"/>
                </a:highlight>
              </a:rPr>
              <a:t>To be successful, the Scrum Master must wear different hats that depend on the situation or challenge the team is facing(Scrum.org).”</a:t>
            </a:r>
            <a:endParaRPr sz="1600">
              <a:solidFill>
                <a:schemeClr val="dk1"/>
              </a:solidFill>
            </a:endParaRPr>
          </a:p>
        </p:txBody>
      </p:sp>
      <p:sp>
        <p:nvSpPr>
          <p:cNvPr id="76" name="Google Shape;76;p16"/>
          <p:cNvSpPr txBox="1"/>
          <p:nvPr/>
        </p:nvSpPr>
        <p:spPr>
          <a:xfrm>
            <a:off x="311700" y="3048000"/>
            <a:ext cx="8520600" cy="1654500"/>
          </a:xfrm>
          <a:prstGeom prst="rect">
            <a:avLst/>
          </a:prstGeom>
          <a:solidFill>
            <a:schemeClr val="lt1"/>
          </a:solid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sz="1800">
                <a:solidFill>
                  <a:schemeClr val="dk1"/>
                </a:solidFill>
              </a:rPr>
              <a:t>Run and keep scrum meetings on track</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Coach the team on agile principles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Helps remove </a:t>
            </a:r>
            <a:r>
              <a:rPr lang="en" sz="1800">
                <a:solidFill>
                  <a:schemeClr val="dk1"/>
                </a:solidFill>
              </a:rPr>
              <a:t>impediment</a:t>
            </a:r>
            <a:r>
              <a:rPr lang="en" sz="1800">
                <a:solidFill>
                  <a:schemeClr val="dk1"/>
                </a:solidFill>
              </a:rPr>
              <a:t> of their team members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Acts as a middle man between the </a:t>
            </a:r>
            <a:r>
              <a:rPr lang="en" sz="1800">
                <a:solidFill>
                  <a:schemeClr val="dk1"/>
                </a:solidFill>
              </a:rPr>
              <a:t>developers</a:t>
            </a:r>
            <a:r>
              <a:rPr lang="en" sz="1800">
                <a:solidFill>
                  <a:schemeClr val="dk1"/>
                </a:solidFill>
              </a:rPr>
              <a:t> and stakeholders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Assists Product Owner in stakeholder meetings</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a:solidFill>
            <a:schemeClr val="lt1"/>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Development Team(Testers and Developers)</a:t>
            </a:r>
            <a:endParaRPr/>
          </a:p>
        </p:txBody>
      </p:sp>
      <p:sp>
        <p:nvSpPr>
          <p:cNvPr id="82" name="Google Shape;82;p17"/>
          <p:cNvSpPr txBox="1"/>
          <p:nvPr>
            <p:ph idx="1" type="body"/>
          </p:nvPr>
        </p:nvSpPr>
        <p:spPr>
          <a:xfrm>
            <a:off x="311700" y="1152475"/>
            <a:ext cx="8520600" cy="1519500"/>
          </a:xfrm>
          <a:prstGeom prst="rect">
            <a:avLst/>
          </a:prstGeom>
          <a:solidFill>
            <a:schemeClr val="lt1"/>
          </a:solidFill>
        </p:spPr>
        <p:txBody>
          <a:bodyPr anchorCtr="0" anchor="t" bIns="91425" lIns="91425" spcFirstLastPara="1" rIns="91425" wrap="square" tIns="91425">
            <a:normAutofit/>
          </a:bodyPr>
          <a:lstStyle/>
          <a:p>
            <a:pPr indent="0" lvl="0" marL="0" rtl="0" algn="ctr">
              <a:spcBef>
                <a:spcPts val="0"/>
              </a:spcBef>
              <a:spcAft>
                <a:spcPts val="0"/>
              </a:spcAft>
              <a:buNone/>
            </a:pPr>
            <a:r>
              <a:rPr lang="en" sz="1400">
                <a:solidFill>
                  <a:schemeClr val="dk1"/>
                </a:solidFill>
              </a:rPr>
              <a:t>The Development team is the core of the scrum team. They are the ones who deliver the product.</a:t>
            </a:r>
            <a:endParaRPr sz="1400">
              <a:solidFill>
                <a:schemeClr val="dk1"/>
              </a:solidFill>
            </a:endParaRPr>
          </a:p>
          <a:p>
            <a:pPr indent="0" lvl="0" marL="0" rtl="0" algn="ctr">
              <a:spcBef>
                <a:spcPts val="1200"/>
              </a:spcBef>
              <a:spcAft>
                <a:spcPts val="1200"/>
              </a:spcAft>
              <a:buNone/>
            </a:pPr>
            <a:r>
              <a:rPr lang="en">
                <a:solidFill>
                  <a:schemeClr val="dk1"/>
                </a:solidFill>
              </a:rPr>
              <a:t>“</a:t>
            </a:r>
            <a:r>
              <a:rPr lang="en" sz="1400">
                <a:solidFill>
                  <a:schemeClr val="dk1"/>
                </a:solidFill>
                <a:highlight>
                  <a:srgbClr val="FFFFFF"/>
                </a:highlight>
              </a:rPr>
              <a:t>It is important to remember that a Developer is not necessarily a software developer. They can focus on any type of product work whether software or not and any aspect of helping to design, build, test or ship the product(Scrum.org).”</a:t>
            </a:r>
            <a:endParaRPr sz="2000">
              <a:solidFill>
                <a:schemeClr val="dk1"/>
              </a:solidFill>
            </a:endParaRPr>
          </a:p>
        </p:txBody>
      </p:sp>
      <p:sp>
        <p:nvSpPr>
          <p:cNvPr id="83" name="Google Shape;83;p17"/>
          <p:cNvSpPr txBox="1"/>
          <p:nvPr/>
        </p:nvSpPr>
        <p:spPr>
          <a:xfrm>
            <a:off x="335875" y="2912650"/>
            <a:ext cx="8520600" cy="2060400"/>
          </a:xfrm>
          <a:prstGeom prst="rect">
            <a:avLst/>
          </a:prstGeom>
          <a:solidFill>
            <a:schemeClr val="lt1"/>
          </a:solid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sz="1800">
                <a:solidFill>
                  <a:schemeClr val="dk1"/>
                </a:solidFill>
              </a:rPr>
              <a:t>Help </a:t>
            </a:r>
            <a:r>
              <a:rPr lang="en" sz="1800">
                <a:solidFill>
                  <a:schemeClr val="dk1"/>
                </a:solidFill>
              </a:rPr>
              <a:t>develop</a:t>
            </a:r>
            <a:r>
              <a:rPr lang="en" sz="1800">
                <a:solidFill>
                  <a:schemeClr val="dk1"/>
                </a:solidFill>
              </a:rPr>
              <a:t> sprint plan</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Self governing members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Collaboration amongst </a:t>
            </a:r>
            <a:r>
              <a:rPr lang="en" sz="1800">
                <a:solidFill>
                  <a:schemeClr val="dk1"/>
                </a:solidFill>
              </a:rPr>
              <a:t>other</a:t>
            </a:r>
            <a:r>
              <a:rPr lang="en" sz="1800">
                <a:solidFill>
                  <a:schemeClr val="dk1"/>
                </a:solidFill>
              </a:rPr>
              <a:t> team members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Develop quality products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Able to adapt to changes in projects</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a:solidFill>
            <a:schemeClr val="lt1"/>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Software Development Life Cycle in Agile</a:t>
            </a:r>
            <a:endParaRPr/>
          </a:p>
        </p:txBody>
      </p:sp>
      <p:sp>
        <p:nvSpPr>
          <p:cNvPr id="89" name="Google Shape;89;p18"/>
          <p:cNvSpPr txBox="1"/>
          <p:nvPr>
            <p:ph idx="1" type="body"/>
          </p:nvPr>
        </p:nvSpPr>
        <p:spPr>
          <a:xfrm>
            <a:off x="311700" y="1152475"/>
            <a:ext cx="8520600" cy="3416400"/>
          </a:xfrm>
          <a:prstGeom prst="rect">
            <a:avLst/>
          </a:prstGeom>
          <a:solidFill>
            <a:schemeClr val="lt1"/>
          </a:solidFill>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Planning (Sprints &amp; Backlog)</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Execution (Daily stand-up &amp; Development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Review (Sprint review)</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Retrospective (Sprint Retrospective)</a:t>
            </a:r>
            <a:endParaRPr>
              <a:solidFill>
                <a:schemeClr val="dk1"/>
              </a:solidFill>
            </a:endParaRPr>
          </a:p>
        </p:txBody>
      </p:sp>
      <p:pic>
        <p:nvPicPr>
          <p:cNvPr id="90" name="Google Shape;90;p18" title="agile-principle.png"/>
          <p:cNvPicPr preferRelativeResize="0"/>
          <p:nvPr/>
        </p:nvPicPr>
        <p:blipFill>
          <a:blip r:embed="rId3">
            <a:alphaModFix/>
          </a:blip>
          <a:stretch>
            <a:fillRect/>
          </a:stretch>
        </p:blipFill>
        <p:spPr>
          <a:xfrm>
            <a:off x="5170150" y="1980200"/>
            <a:ext cx="3662150" cy="25886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a:solidFill>
            <a:schemeClr val="lt1"/>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Planning &amp; Execution</a:t>
            </a:r>
            <a:endParaRPr/>
          </a:p>
        </p:txBody>
      </p:sp>
      <p:sp>
        <p:nvSpPr>
          <p:cNvPr id="96" name="Google Shape;96;p19"/>
          <p:cNvSpPr txBox="1"/>
          <p:nvPr>
            <p:ph idx="1" type="body"/>
          </p:nvPr>
        </p:nvSpPr>
        <p:spPr>
          <a:xfrm>
            <a:off x="311700" y="1152475"/>
            <a:ext cx="8520600" cy="3416400"/>
          </a:xfrm>
          <a:prstGeom prst="rect">
            <a:avLst/>
          </a:prstGeom>
          <a:solidFill>
            <a:schemeClr val="lt1"/>
          </a:solidFill>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Planning - The product life cycle will begin with an idea, the product owner will work with the stakeholders and invision this idea. The scrum team will then begin planning their sprint, choosing higher priority items from the back log.</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
                <a:solidFill>
                  <a:schemeClr val="dk1"/>
                </a:solidFill>
              </a:rPr>
              <a:t>Execution - The team </a:t>
            </a:r>
            <a:r>
              <a:rPr lang="en">
                <a:solidFill>
                  <a:schemeClr val="dk1"/>
                </a:solidFill>
              </a:rPr>
              <a:t>will</a:t>
            </a:r>
            <a:r>
              <a:rPr lang="en">
                <a:solidFill>
                  <a:schemeClr val="dk1"/>
                </a:solidFill>
              </a:rPr>
              <a:t> work on developing the items chosen for the sprint, holding daily meetings in the morning to help keep them on track. There will be constant collaboration between developers and tester to ensure quality, working product.</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a:solidFill>
            <a:schemeClr val="lt1"/>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Review &amp; Retrospective</a:t>
            </a:r>
            <a:endParaRPr/>
          </a:p>
        </p:txBody>
      </p:sp>
      <p:sp>
        <p:nvSpPr>
          <p:cNvPr id="102" name="Google Shape;102;p20"/>
          <p:cNvSpPr txBox="1"/>
          <p:nvPr>
            <p:ph idx="1" type="body"/>
          </p:nvPr>
        </p:nvSpPr>
        <p:spPr>
          <a:xfrm>
            <a:off x="311700" y="1152475"/>
            <a:ext cx="8520600" cy="3416400"/>
          </a:xfrm>
          <a:prstGeom prst="rect">
            <a:avLst/>
          </a:prstGeom>
          <a:solidFill>
            <a:schemeClr val="lt1"/>
          </a:solidFill>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Sprint Review - This portion occurs at the end of the sprint, where the team gets together and discusses the outcome of the sprint. It is meant to gloss over their accomplishments, adjust the backlog if needed and show the stakeholders the progress.</a:t>
            </a:r>
            <a:endParaRPr>
              <a:solidFill>
                <a:schemeClr val="dk1"/>
              </a:solidFill>
            </a:endParaRPr>
          </a:p>
          <a:p>
            <a:pPr indent="0" lvl="0" marL="0" rtl="0" algn="l">
              <a:spcBef>
                <a:spcPts val="1200"/>
              </a:spcBef>
              <a:spcAft>
                <a:spcPts val="1200"/>
              </a:spcAft>
              <a:buNone/>
            </a:pPr>
            <a:r>
              <a:rPr lang="en">
                <a:solidFill>
                  <a:schemeClr val="dk1"/>
                </a:solidFill>
              </a:rPr>
              <a:t>Retrospective - This is similar to the review portion, it is the final stage of the sprint, but its main focus is to take what was learned during the current sprint and use those experiences to help increase productivity in future sprints.</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a:solidFill>
            <a:schemeClr val="lt1"/>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Waterfall Method </a:t>
            </a:r>
            <a:endParaRPr/>
          </a:p>
        </p:txBody>
      </p:sp>
      <p:sp>
        <p:nvSpPr>
          <p:cNvPr id="108" name="Google Shape;108;p21"/>
          <p:cNvSpPr txBox="1"/>
          <p:nvPr>
            <p:ph idx="1" type="body"/>
          </p:nvPr>
        </p:nvSpPr>
        <p:spPr>
          <a:xfrm>
            <a:off x="311700" y="1152475"/>
            <a:ext cx="8520600" cy="3416400"/>
          </a:xfrm>
          <a:prstGeom prst="rect">
            <a:avLst/>
          </a:prstGeom>
          <a:solidFill>
            <a:schemeClr val="lt1"/>
          </a:solidFill>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Compared to agile, the waterfall method is a linear approach to a projects development. During the SNHU travel site development, there were changes that </a:t>
            </a:r>
            <a:r>
              <a:rPr lang="en">
                <a:solidFill>
                  <a:schemeClr val="dk1"/>
                </a:solidFill>
              </a:rPr>
              <a:t>occurred</a:t>
            </a:r>
            <a:r>
              <a:rPr lang="en">
                <a:solidFill>
                  <a:schemeClr val="dk1"/>
                </a:solidFill>
              </a:rPr>
              <a:t> in the development process. With a waterfall method there would have been a lack of adaptability to </a:t>
            </a:r>
            <a:r>
              <a:rPr lang="en">
                <a:solidFill>
                  <a:schemeClr val="dk1"/>
                </a:solidFill>
              </a:rPr>
              <a:t>those changes</a:t>
            </a:r>
            <a:r>
              <a:rPr lang="en">
                <a:solidFill>
                  <a:schemeClr val="dk1"/>
                </a:solidFill>
              </a:rPr>
              <a:t>, which would have caused delays in the delivery of the product</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a:solidFill>
            <a:schemeClr val="lt1"/>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Agile or WaterFall</a:t>
            </a:r>
            <a:endParaRPr/>
          </a:p>
        </p:txBody>
      </p:sp>
      <p:sp>
        <p:nvSpPr>
          <p:cNvPr id="114" name="Google Shape;114;p22"/>
          <p:cNvSpPr txBox="1"/>
          <p:nvPr>
            <p:ph idx="1" type="body"/>
          </p:nvPr>
        </p:nvSpPr>
        <p:spPr>
          <a:xfrm>
            <a:off x="311700" y="1152475"/>
            <a:ext cx="8520600" cy="3416400"/>
          </a:xfrm>
          <a:prstGeom prst="rect">
            <a:avLst/>
          </a:prstGeom>
          <a:solidFill>
            <a:schemeClr val="lt1"/>
          </a:solidFill>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When deciding what approach to choose, there are some key factors to consider</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Do you expect changes to occur mid project or not?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Does the project require collaboration?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Is there a project deadline?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Do you need to interact with the clients often?</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a:solidFill>
            <a:schemeClr val="lt1"/>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Agile or Waterfall? cont.</a:t>
            </a:r>
            <a:endParaRPr/>
          </a:p>
        </p:txBody>
      </p:sp>
      <p:sp>
        <p:nvSpPr>
          <p:cNvPr id="120" name="Google Shape;120;p23"/>
          <p:cNvSpPr txBox="1"/>
          <p:nvPr>
            <p:ph idx="1" type="body"/>
          </p:nvPr>
        </p:nvSpPr>
        <p:spPr>
          <a:xfrm>
            <a:off x="311700" y="1152475"/>
            <a:ext cx="8520600" cy="3416400"/>
          </a:xfrm>
          <a:prstGeom prst="rect">
            <a:avLst/>
          </a:prstGeom>
          <a:solidFill>
            <a:schemeClr val="lt1"/>
          </a:solidFill>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When it comes to changes, agile reigns supreme, the iterative aspects allows for adaptation to changes, while in waterfall, they will cause setbacks. Agile also fosters a constant collaborative </a:t>
            </a:r>
            <a:r>
              <a:rPr lang="en">
                <a:solidFill>
                  <a:schemeClr val="dk1"/>
                </a:solidFill>
              </a:rPr>
              <a:t>environment</a:t>
            </a:r>
            <a:r>
              <a:rPr lang="en">
                <a:solidFill>
                  <a:schemeClr val="dk1"/>
                </a:solidFill>
              </a:rPr>
              <a:t> among team members. This approach also helps if there is a deadline to meet. Under agile, teams are able to more </a:t>
            </a:r>
            <a:r>
              <a:rPr lang="en">
                <a:solidFill>
                  <a:schemeClr val="dk1"/>
                </a:solidFill>
              </a:rPr>
              <a:t>efficiently</a:t>
            </a:r>
            <a:r>
              <a:rPr lang="en">
                <a:solidFill>
                  <a:schemeClr val="dk1"/>
                </a:solidFill>
              </a:rPr>
              <a:t> complete tasks and deliver a product. The iterative aspect of agile is also </a:t>
            </a:r>
            <a:r>
              <a:rPr lang="en">
                <a:solidFill>
                  <a:schemeClr val="dk1"/>
                </a:solidFill>
              </a:rPr>
              <a:t>beneficial</a:t>
            </a:r>
            <a:r>
              <a:rPr lang="en">
                <a:solidFill>
                  <a:schemeClr val="dk1"/>
                </a:solidFill>
              </a:rPr>
              <a:t> when clients are active, it delivers working items that they can make changes to if they please, so that there are not a bunch of changes to a final product.</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a:solidFill>
            <a:schemeClr val="lt1"/>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References</a:t>
            </a:r>
            <a:r>
              <a:rPr lang="en"/>
              <a:t> </a:t>
            </a:r>
            <a:endParaRPr/>
          </a:p>
        </p:txBody>
      </p:sp>
      <p:sp>
        <p:nvSpPr>
          <p:cNvPr id="126" name="Google Shape;126;p24"/>
          <p:cNvSpPr txBox="1"/>
          <p:nvPr>
            <p:ph idx="1" type="body"/>
          </p:nvPr>
        </p:nvSpPr>
        <p:spPr>
          <a:xfrm>
            <a:off x="311700" y="1152475"/>
            <a:ext cx="8520600" cy="3416400"/>
          </a:xfrm>
          <a:prstGeom prst="rect">
            <a:avLst/>
          </a:prstGeom>
          <a:solidFill>
            <a:schemeClr val="lt1"/>
          </a:solidFill>
        </p:spPr>
        <p:txBody>
          <a:bodyPr anchorCtr="0" anchor="t" bIns="91425" lIns="91425" spcFirstLastPara="1" rIns="91425" wrap="square" tIns="91425">
            <a:normAutofit fontScale="85000" lnSpcReduction="10000"/>
          </a:bodyPr>
          <a:lstStyle/>
          <a:p>
            <a:pPr indent="0" lvl="0" marL="457200" rtl="0" algn="l">
              <a:lnSpc>
                <a:spcPct val="200000"/>
              </a:lnSpc>
              <a:spcBef>
                <a:spcPts val="0"/>
              </a:spcBef>
              <a:spcAft>
                <a:spcPts val="0"/>
              </a:spcAft>
              <a:buNone/>
            </a:pPr>
            <a:r>
              <a:rPr i="1" lang="en" sz="1350">
                <a:solidFill>
                  <a:schemeClr val="dk1"/>
                </a:solidFill>
                <a:latin typeface="Calibri"/>
                <a:ea typeface="Calibri"/>
                <a:cs typeface="Calibri"/>
                <a:sym typeface="Calibri"/>
              </a:rPr>
              <a:t>Scrum Guide | Scrum Guides</a:t>
            </a:r>
            <a:r>
              <a:rPr lang="en" sz="1350">
                <a:solidFill>
                  <a:schemeClr val="dk1"/>
                </a:solidFill>
                <a:latin typeface="Calibri"/>
                <a:ea typeface="Calibri"/>
                <a:cs typeface="Calibri"/>
                <a:sym typeface="Calibri"/>
              </a:rPr>
              <a:t>. (n.d.). Scrumguides.org. </a:t>
            </a:r>
            <a:endParaRPr sz="1350">
              <a:solidFill>
                <a:schemeClr val="dk1"/>
              </a:solidFill>
              <a:latin typeface="Calibri"/>
              <a:ea typeface="Calibri"/>
              <a:cs typeface="Calibri"/>
              <a:sym typeface="Calibri"/>
            </a:endParaRPr>
          </a:p>
          <a:p>
            <a:pPr indent="457200" lvl="0" marL="457200" rtl="0" algn="l">
              <a:lnSpc>
                <a:spcPct val="200000"/>
              </a:lnSpc>
              <a:spcBef>
                <a:spcPts val="0"/>
              </a:spcBef>
              <a:spcAft>
                <a:spcPts val="0"/>
              </a:spcAft>
              <a:buNone/>
            </a:pPr>
            <a:r>
              <a:rPr lang="en" sz="1350" u="sng">
                <a:solidFill>
                  <a:schemeClr val="hlink"/>
                </a:solidFill>
                <a:latin typeface="Calibri"/>
                <a:ea typeface="Calibri"/>
                <a:cs typeface="Calibri"/>
                <a:sym typeface="Calibri"/>
                <a:hlinkClick r:id="rId3"/>
              </a:rPr>
              <a:t>https://scrumguides.org/scrum-guide.html#the-sprint</a:t>
            </a:r>
            <a:endParaRPr sz="1350">
              <a:solidFill>
                <a:schemeClr val="dk1"/>
              </a:solidFill>
              <a:latin typeface="Calibri"/>
              <a:ea typeface="Calibri"/>
              <a:cs typeface="Calibri"/>
              <a:sym typeface="Calibri"/>
            </a:endParaRPr>
          </a:p>
          <a:p>
            <a:pPr indent="457200" lvl="0" marL="0" rtl="0" algn="l">
              <a:lnSpc>
                <a:spcPct val="200000"/>
              </a:lnSpc>
              <a:spcBef>
                <a:spcPts val="0"/>
              </a:spcBef>
              <a:spcAft>
                <a:spcPts val="0"/>
              </a:spcAft>
              <a:buNone/>
            </a:pPr>
            <a:r>
              <a:rPr lang="en" sz="1350">
                <a:solidFill>
                  <a:schemeClr val="dk1"/>
                </a:solidFill>
                <a:latin typeface="Calibri"/>
                <a:ea typeface="Calibri"/>
                <a:cs typeface="Calibri"/>
                <a:sym typeface="Calibri"/>
              </a:rPr>
              <a:t>Scrum.org. (2024). </a:t>
            </a:r>
            <a:r>
              <a:rPr i="1" lang="en" sz="1350">
                <a:solidFill>
                  <a:schemeClr val="dk1"/>
                </a:solidFill>
                <a:latin typeface="Calibri"/>
                <a:ea typeface="Calibri"/>
                <a:cs typeface="Calibri"/>
                <a:sym typeface="Calibri"/>
              </a:rPr>
              <a:t>What is a Scrum Master?</a:t>
            </a:r>
            <a:r>
              <a:rPr lang="en" sz="1350">
                <a:solidFill>
                  <a:schemeClr val="dk1"/>
                </a:solidFill>
                <a:latin typeface="Calibri"/>
                <a:ea typeface="Calibri"/>
                <a:cs typeface="Calibri"/>
                <a:sym typeface="Calibri"/>
              </a:rPr>
              <a:t> Scrum.org.  </a:t>
            </a:r>
            <a:endParaRPr sz="1350">
              <a:solidFill>
                <a:schemeClr val="dk1"/>
              </a:solidFill>
              <a:latin typeface="Calibri"/>
              <a:ea typeface="Calibri"/>
              <a:cs typeface="Calibri"/>
              <a:sym typeface="Calibri"/>
            </a:endParaRPr>
          </a:p>
          <a:p>
            <a:pPr indent="457200" lvl="0" marL="457200" rtl="0" algn="l">
              <a:lnSpc>
                <a:spcPct val="200000"/>
              </a:lnSpc>
              <a:spcBef>
                <a:spcPts val="0"/>
              </a:spcBef>
              <a:spcAft>
                <a:spcPts val="0"/>
              </a:spcAft>
              <a:buNone/>
            </a:pPr>
            <a:r>
              <a:rPr lang="en" sz="1350">
                <a:solidFill>
                  <a:schemeClr val="dk1"/>
                </a:solidFill>
                <a:latin typeface="Calibri"/>
                <a:ea typeface="Calibri"/>
                <a:cs typeface="Calibri"/>
                <a:sym typeface="Calibri"/>
              </a:rPr>
              <a:t> </a:t>
            </a:r>
            <a:r>
              <a:rPr lang="en" sz="1350" u="sng">
                <a:solidFill>
                  <a:schemeClr val="hlink"/>
                </a:solidFill>
                <a:latin typeface="Calibri"/>
                <a:ea typeface="Calibri"/>
                <a:cs typeface="Calibri"/>
                <a:sym typeface="Calibri"/>
                <a:hlinkClick r:id="rId4"/>
              </a:rPr>
              <a:t>https://www.scrum.org/resources/what-is-a-scrum-master</a:t>
            </a:r>
            <a:endParaRPr sz="1350">
              <a:solidFill>
                <a:schemeClr val="dk1"/>
              </a:solidFill>
              <a:latin typeface="Calibri"/>
              <a:ea typeface="Calibri"/>
              <a:cs typeface="Calibri"/>
              <a:sym typeface="Calibri"/>
            </a:endParaRPr>
          </a:p>
          <a:p>
            <a:pPr indent="0" lvl="0" marL="457200" rtl="0" algn="l">
              <a:lnSpc>
                <a:spcPct val="200000"/>
              </a:lnSpc>
              <a:spcBef>
                <a:spcPts val="0"/>
              </a:spcBef>
              <a:spcAft>
                <a:spcPts val="0"/>
              </a:spcAft>
              <a:buNone/>
            </a:pPr>
            <a:r>
              <a:rPr i="1" lang="en" sz="1350">
                <a:solidFill>
                  <a:schemeClr val="dk1"/>
                </a:solidFill>
                <a:latin typeface="Calibri"/>
                <a:ea typeface="Calibri"/>
                <a:cs typeface="Calibri"/>
                <a:sym typeface="Calibri"/>
              </a:rPr>
              <a:t>What is a Developer in Scrum?</a:t>
            </a:r>
            <a:r>
              <a:rPr lang="en" sz="1350">
                <a:solidFill>
                  <a:schemeClr val="dk1"/>
                </a:solidFill>
                <a:latin typeface="Calibri"/>
                <a:ea typeface="Calibri"/>
                <a:cs typeface="Calibri"/>
                <a:sym typeface="Calibri"/>
              </a:rPr>
              <a:t> (n.d.). Scrum.org. </a:t>
            </a:r>
            <a:endParaRPr sz="1350">
              <a:solidFill>
                <a:schemeClr val="dk1"/>
              </a:solidFill>
              <a:latin typeface="Calibri"/>
              <a:ea typeface="Calibri"/>
              <a:cs typeface="Calibri"/>
              <a:sym typeface="Calibri"/>
            </a:endParaRPr>
          </a:p>
          <a:p>
            <a:pPr indent="457200" lvl="0" marL="457200" rtl="0" algn="l">
              <a:lnSpc>
                <a:spcPct val="200000"/>
              </a:lnSpc>
              <a:spcBef>
                <a:spcPts val="0"/>
              </a:spcBef>
              <a:spcAft>
                <a:spcPts val="0"/>
              </a:spcAft>
              <a:buNone/>
            </a:pPr>
            <a:r>
              <a:rPr lang="en" sz="1350" u="sng">
                <a:solidFill>
                  <a:schemeClr val="hlink"/>
                </a:solidFill>
                <a:latin typeface="Calibri"/>
                <a:ea typeface="Calibri"/>
                <a:cs typeface="Calibri"/>
                <a:sym typeface="Calibri"/>
                <a:hlinkClick r:id="rId5"/>
              </a:rPr>
              <a:t>https://www.scrum.org/resources/what-is-a-scrum-developer</a:t>
            </a:r>
            <a:endParaRPr/>
          </a:p>
          <a:p>
            <a:pPr indent="0" lvl="0" marL="457200" rtl="0" algn="l">
              <a:lnSpc>
                <a:spcPct val="200000"/>
              </a:lnSpc>
              <a:spcBef>
                <a:spcPts val="0"/>
              </a:spcBef>
              <a:spcAft>
                <a:spcPts val="0"/>
              </a:spcAft>
              <a:buNone/>
            </a:pPr>
            <a:r>
              <a:rPr lang="en" sz="1350">
                <a:solidFill>
                  <a:schemeClr val="dk1"/>
                </a:solidFill>
                <a:latin typeface="Calibri"/>
                <a:ea typeface="Calibri"/>
                <a:cs typeface="Calibri"/>
                <a:sym typeface="Calibri"/>
              </a:rPr>
              <a:t>GeeksforGeeks. (2021, October 15). </a:t>
            </a:r>
            <a:r>
              <a:rPr i="1" lang="en" sz="1350">
                <a:solidFill>
                  <a:schemeClr val="dk1"/>
                </a:solidFill>
                <a:latin typeface="Calibri"/>
                <a:ea typeface="Calibri"/>
                <a:cs typeface="Calibri"/>
                <a:sym typeface="Calibri"/>
              </a:rPr>
              <a:t>Agile SDLC (Software Development Life Cycle)</a:t>
            </a:r>
            <a:r>
              <a:rPr lang="en" sz="1350">
                <a:solidFill>
                  <a:schemeClr val="dk1"/>
                </a:solidFill>
                <a:latin typeface="Calibri"/>
                <a:ea typeface="Calibri"/>
                <a:cs typeface="Calibri"/>
                <a:sym typeface="Calibri"/>
              </a:rPr>
              <a:t>. GeeksforGeeks. </a:t>
            </a:r>
            <a:r>
              <a:rPr lang="en" sz="1350" u="sng">
                <a:solidFill>
                  <a:schemeClr val="hlink"/>
                </a:solidFill>
                <a:latin typeface="Calibri"/>
                <a:ea typeface="Calibri"/>
                <a:cs typeface="Calibri"/>
                <a:sym typeface="Calibri"/>
                <a:hlinkClick r:id="rId6"/>
              </a:rPr>
              <a:t>https://www.geeksforgeeks.org/software-engineering/agile-sdlc-software-development-life-cycle/</a:t>
            </a:r>
            <a:endParaRPr sz="1350">
              <a:solidFill>
                <a:schemeClr val="dk1"/>
              </a:solidFill>
              <a:latin typeface="Calibri"/>
              <a:ea typeface="Calibri"/>
              <a:cs typeface="Calibri"/>
              <a:sym typeface="Calibri"/>
            </a:endParaRPr>
          </a:p>
          <a:p>
            <a:pPr indent="0" lvl="0" marL="457200" rtl="0" algn="l">
              <a:lnSpc>
                <a:spcPct val="200000"/>
              </a:lnSpc>
              <a:spcBef>
                <a:spcPts val="0"/>
              </a:spcBef>
              <a:spcAft>
                <a:spcPts val="0"/>
              </a:spcAft>
              <a:buNone/>
            </a:pPr>
            <a:r>
              <a:t/>
            </a:r>
            <a:endParaRPr sz="1350">
              <a:solidFill>
                <a:schemeClr val="dk1"/>
              </a:solidFill>
              <a:latin typeface="Calibri"/>
              <a:ea typeface="Calibri"/>
              <a:cs typeface="Calibri"/>
              <a:sym typeface="Calibri"/>
            </a:endParaRPr>
          </a:p>
          <a:p>
            <a:pPr indent="0" lvl="0" marL="457200" rtl="0" algn="l">
              <a:lnSpc>
                <a:spcPct val="200000"/>
              </a:lnSpc>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445025"/>
            <a:ext cx="8520600" cy="572700"/>
          </a:xfrm>
          <a:prstGeom prst="rect">
            <a:avLst/>
          </a:prstGeom>
          <a:solidFill>
            <a:schemeClr val="lt1"/>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Images</a:t>
            </a:r>
            <a:endParaRPr/>
          </a:p>
        </p:txBody>
      </p:sp>
      <p:sp>
        <p:nvSpPr>
          <p:cNvPr id="132" name="Google Shape;132;p25"/>
          <p:cNvSpPr txBox="1"/>
          <p:nvPr>
            <p:ph idx="1" type="body"/>
          </p:nvPr>
        </p:nvSpPr>
        <p:spPr>
          <a:xfrm>
            <a:off x="311700" y="1152475"/>
            <a:ext cx="8520600" cy="3416400"/>
          </a:xfrm>
          <a:prstGeom prst="rect">
            <a:avLst/>
          </a:prstGeom>
          <a:solidFill>
            <a:schemeClr val="lt1"/>
          </a:solidFill>
        </p:spPr>
        <p:txBody>
          <a:bodyPr anchorCtr="0" anchor="t" bIns="91425" lIns="91425" spcFirstLastPara="1" rIns="91425" wrap="square" tIns="91425">
            <a:normAutofit/>
          </a:bodyPr>
          <a:lstStyle/>
          <a:p>
            <a:pPr indent="0" lvl="0" marL="457200" rtl="0" algn="l">
              <a:lnSpc>
                <a:spcPct val="200000"/>
              </a:lnSpc>
              <a:spcBef>
                <a:spcPts val="0"/>
              </a:spcBef>
              <a:spcAft>
                <a:spcPts val="0"/>
              </a:spcAft>
              <a:buClr>
                <a:schemeClr val="dk1"/>
              </a:buClr>
              <a:buSzPts val="1100"/>
              <a:buFont typeface="Arial"/>
              <a:buNone/>
            </a:pPr>
            <a:r>
              <a:rPr lang="en" sz="1350">
                <a:solidFill>
                  <a:schemeClr val="dk1"/>
                </a:solidFill>
                <a:latin typeface="Calibri"/>
                <a:ea typeface="Calibri"/>
                <a:cs typeface="Calibri"/>
                <a:sym typeface="Calibri"/>
              </a:rPr>
              <a:t>Aguayo Publicidad. (2018). </a:t>
            </a:r>
            <a:r>
              <a:rPr i="1" lang="en" sz="1350">
                <a:solidFill>
                  <a:schemeClr val="dk1"/>
                </a:solidFill>
                <a:latin typeface="Calibri"/>
                <a:ea typeface="Calibri"/>
                <a:cs typeface="Calibri"/>
                <a:sym typeface="Calibri"/>
              </a:rPr>
              <a:t>Agile Methodology in UX | Aguayo’s Blog</a:t>
            </a:r>
            <a:r>
              <a:rPr lang="en" sz="1350">
                <a:solidFill>
                  <a:schemeClr val="dk1"/>
                </a:solidFill>
                <a:latin typeface="Calibri"/>
                <a:ea typeface="Calibri"/>
                <a:cs typeface="Calibri"/>
                <a:sym typeface="Calibri"/>
              </a:rPr>
              <a:t>. Aguayo.co. </a:t>
            </a:r>
            <a:r>
              <a:rPr lang="en" sz="1350" u="sng">
                <a:solidFill>
                  <a:schemeClr val="accent5"/>
                </a:solidFill>
                <a:latin typeface="Calibri"/>
                <a:ea typeface="Calibri"/>
                <a:cs typeface="Calibri"/>
                <a:sym typeface="Calibri"/>
                <a:hlinkClick r:id="rId3">
                  <a:extLst>
                    <a:ext uri="{A12FA001-AC4F-418D-AE19-62706E023703}">
                      <ahyp:hlinkClr val="tx"/>
                    </a:ext>
                  </a:extLst>
                </a:hlinkClick>
              </a:rPr>
              <a:t>https://aguayo.co/en/blog-aguayo-user-experience/agile-methodology-in-ux/</a:t>
            </a:r>
            <a:endParaRPr sz="1350">
              <a:solidFill>
                <a:schemeClr val="dk1"/>
              </a:solidFill>
              <a:latin typeface="Calibri"/>
              <a:ea typeface="Calibri"/>
              <a:cs typeface="Calibri"/>
              <a:sym typeface="Calibri"/>
            </a:endParaRPr>
          </a:p>
          <a:p>
            <a:pPr indent="0" lvl="0" marL="457200" rtl="0" algn="l">
              <a:lnSpc>
                <a:spcPct val="200000"/>
              </a:lnSpc>
              <a:spcBef>
                <a:spcPts val="0"/>
              </a:spcBef>
              <a:spcAft>
                <a:spcPts val="0"/>
              </a:spcAft>
              <a:buClr>
                <a:schemeClr val="dk1"/>
              </a:buClr>
              <a:buSzPts val="1100"/>
              <a:buFont typeface="Arial"/>
              <a:buNone/>
            </a:pPr>
            <a:r>
              <a:rPr lang="en" sz="1350">
                <a:solidFill>
                  <a:schemeClr val="dk1"/>
                </a:solidFill>
                <a:latin typeface="Calibri"/>
                <a:ea typeface="Calibri"/>
                <a:cs typeface="Calibri"/>
                <a:sym typeface="Calibri"/>
              </a:rPr>
              <a:t>Raza, M. (2020, August 11). </a:t>
            </a:r>
            <a:r>
              <a:rPr i="1" lang="en" sz="1350">
                <a:solidFill>
                  <a:schemeClr val="dk1"/>
                </a:solidFill>
                <a:latin typeface="Calibri"/>
                <a:ea typeface="Calibri"/>
                <a:cs typeface="Calibri"/>
                <a:sym typeface="Calibri"/>
              </a:rPr>
              <a:t>Agile vs Waterfall SDLCs: What’s The Difference?</a:t>
            </a:r>
            <a:r>
              <a:rPr lang="en" sz="1350">
                <a:solidFill>
                  <a:schemeClr val="dk1"/>
                </a:solidFill>
                <a:latin typeface="Calibri"/>
                <a:ea typeface="Calibri"/>
                <a:cs typeface="Calibri"/>
                <a:sym typeface="Calibri"/>
              </a:rPr>
              <a:t> BMC Blogs. </a:t>
            </a:r>
            <a:r>
              <a:rPr lang="en" sz="1350" u="sng">
                <a:solidFill>
                  <a:schemeClr val="accent5"/>
                </a:solidFill>
                <a:latin typeface="Calibri"/>
                <a:ea typeface="Calibri"/>
                <a:cs typeface="Calibri"/>
                <a:sym typeface="Calibri"/>
                <a:hlinkClick r:id="rId4">
                  <a:extLst>
                    <a:ext uri="{A12FA001-AC4F-418D-AE19-62706E023703}">
                      <ahyp:hlinkClr val="tx"/>
                    </a:ext>
                  </a:extLst>
                </a:hlinkClick>
              </a:rPr>
              <a:t>https://www.bmc.com/blogs/agile-vs-waterfall/</a:t>
            </a:r>
            <a:endParaRPr sz="1350">
              <a:solidFill>
                <a:schemeClr val="dk1"/>
              </a:solidFill>
              <a:latin typeface="Calibri"/>
              <a:ea typeface="Calibri"/>
              <a:cs typeface="Calibri"/>
              <a:sym typeface="Calibri"/>
            </a:endParaRPr>
          </a:p>
          <a:p>
            <a:pPr indent="0" lvl="0" marL="0" rtl="0" algn="l">
              <a:spcBef>
                <a:spcPts val="1200"/>
              </a:spcBef>
              <a:spcAft>
                <a:spcPts val="1200"/>
              </a:spcAft>
              <a:buClr>
                <a:schemeClr val="dk1"/>
              </a:buClr>
              <a:buSzPts val="1100"/>
              <a:buFont typeface="Arial"/>
              <a:buNone/>
            </a:pPr>
            <a:r>
              <a:rPr lang="en" sz="1100">
                <a:solidFill>
                  <a:schemeClr val="dk1"/>
                </a:solidFill>
                <a:latin typeface="Calibri"/>
                <a:ea typeface="Calibri"/>
                <a:cs typeface="Calibri"/>
                <a:sym typeface="Calibri"/>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